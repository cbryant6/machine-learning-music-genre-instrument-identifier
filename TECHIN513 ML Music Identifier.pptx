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24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report document: /mnt/data/ML_DSP Final (1).docx
- Genre metrics and narrative from uploaded report: baseline 0.65; CNN v2 0.73; CNN v3 0.62; historical v4 0.77; recreated runs 0.61-0.64; reproducibility note; class-level observations.
- Instrument metrics and narrative from uploaded report: baseline 0.4848; CNN v1 0.6806; CNN v2 0.6825; CNN v3 0.7110; CNN v4 0.7148; violin-drum confusion; Beethoven demo framing.
- Confusion matrix assets embedded from the uploaded report DOCX media: image14.png (GTZAN CNN v4 row-normalized), image11.png (instrument v4 confusion matrix).
- Instrument dataset title based on the user-provided Kaggle dataset link in chat: Musical Instrument’s Sound Dataset.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Music Classification with Signal Processing and CNNs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566927"/>
            <a:ext cx="6858000" cy="280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Coleman Bryant &amp; Daniel Zelinger · TECHIN 513 · Separate genre and dominant-instrument models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932688"/>
            <a:ext cx="100584" cy="1792224"/>
          </a:xfrm>
          <a:prstGeom prst="roundRect">
            <a:avLst>
              <a:gd name="adj" fmla="val 54545"/>
            </a:avLst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91178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Problem, Data, and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4328" y="109466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7324D"/>
                </a:solidFill>
              </a:rPr>
              <a:t>Goal</a:t>
            </a:r>
            <a:endParaRPr lang="en-US" sz="1200" u="sng" dirty="0"/>
          </a:p>
        </p:txBody>
      </p:sp>
      <p:sp>
        <p:nvSpPr>
          <p:cNvPr id="10" name="Text 8"/>
          <p:cNvSpPr/>
          <p:nvPr/>
        </p:nvSpPr>
        <p:spPr>
          <a:xfrm>
            <a:off x="416052" y="1287998"/>
            <a:ext cx="25146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music genre and the dominant instrument from short audio clips.</a:t>
            </a:r>
            <a:endParaRPr lang="en-US" sz="1000" dirty="0"/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explainable DSP features first, then compare against compact CNNs trained on mel-spectrograms.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3795" y="2072954"/>
            <a:ext cx="25146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22.05 kHz mono audio, 3 s crops, 64-bin log-mel spectrograms.</a:t>
            </a:r>
            <a:endParaRPr lang="en-US" sz="1000" dirty="0"/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 demo uses 10-crop averaging for more stable inference after reconnects</a:t>
            </a: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880360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" y="2898648"/>
            <a:ext cx="100584" cy="1481328"/>
          </a:xfrm>
          <a:prstGeom prst="roundRect">
            <a:avLst>
              <a:gd name="adj" fmla="val 54545"/>
            </a:avLst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59" y="29077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3372" y="3793662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Baseline logistic regression: 0.65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Best reproducible recent CNN: 0.64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Strongest recorded historical CNN: 0.77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3372" y="418393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CNN progression: 0.68 → 0.68 → 0.71 → 0.71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4553712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2336" y="4572000"/>
            <a:ext cx="100584" cy="1719072"/>
          </a:xfrm>
          <a:prstGeom prst="roundRect">
            <a:avLst>
              <a:gd name="adj" fmla="val 54545"/>
            </a:avLst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456" y="4572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and Limits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985" y="4809744"/>
            <a:ext cx="25146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Reconnect-safe setup: load model + labels from Google Drive, then run a single prediction cell.</a:t>
            </a:r>
            <a:endParaRPr lang="en-US" sz="1000" dirty="0"/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is unified but not multitask: each model outputs one label, not multi-instrument tags.</a:t>
            </a:r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</a:t>
            </a:r>
            <a:r>
              <a:rPr lang="en-US" sz="10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</a:t>
            </a: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reconnecting major issue with models</a:t>
            </a:r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into one model proved difficult</a:t>
            </a:r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</a:rPr>
              <a:t>Chaos Theory- Butterfly Effect 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28416" y="914400"/>
            <a:ext cx="4069080" cy="539496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46704" y="932688"/>
            <a:ext cx="100584" cy="5358384"/>
          </a:xfrm>
          <a:prstGeom prst="roundRect">
            <a:avLst>
              <a:gd name="adj" fmla="val 54545"/>
            </a:avLst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41273" y="90264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Genre Classification (GTZAN)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61588" y="1077685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7324D"/>
                </a:solidFill>
              </a:rPr>
              <a:t>Key result</a:t>
            </a:r>
            <a:endParaRPr lang="en-US" sz="1200" u="sng" dirty="0"/>
          </a:p>
        </p:txBody>
      </p:sp>
      <p:sp>
        <p:nvSpPr>
          <p:cNvPr id="30" name="Text 28"/>
          <p:cNvSpPr/>
          <p:nvPr/>
        </p:nvSpPr>
        <p:spPr>
          <a:xfrm>
            <a:off x="3547872" y="13624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</a:rPr>
              <a:t>The CNN pipeline worked, but recreated runs were sensitive to configuration and did not consistently beat the baseline. That made reproducibility and class-level error analysis central findings.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3518687" y="1923849"/>
            <a:ext cx="122209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Run summary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9584" y="2075688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Base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71416" y="2130552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71416" y="2130552"/>
            <a:ext cx="393763" cy="128016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92624" y="2048256"/>
            <a:ext cx="301752" cy="26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9584" y="2343477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CNN v2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71416" y="2398341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471416" y="2398341"/>
            <a:ext cx="442227" cy="128016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92623" y="2316046"/>
            <a:ext cx="28420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0.73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9584" y="2611265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CNN v3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71416" y="2666129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471416" y="2666129"/>
            <a:ext cx="375590" cy="128016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92624" y="2583833"/>
            <a:ext cx="313444" cy="248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29584" y="2879054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v4 best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71416" y="2933918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71416" y="2933918"/>
            <a:ext cx="466458" cy="128016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92624" y="2851622"/>
            <a:ext cx="344250" cy="25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</a:rPr>
              <a:t>0.77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29584" y="3146842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v4 recreate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71416" y="3201706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471416" y="3201706"/>
            <a:ext cx="381648" cy="128016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92624" y="3119411"/>
            <a:ext cx="301752" cy="22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29584" y="3414631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6 crops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471416" y="3469495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471416" y="3469495"/>
            <a:ext cx="369532" cy="128016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92623" y="3387199"/>
            <a:ext cx="313445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529584" y="3682419"/>
            <a:ext cx="914400" cy="24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No SG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71416" y="3737283"/>
            <a:ext cx="484632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471416" y="3737283"/>
            <a:ext cx="387706" cy="128016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92624" y="3654988"/>
            <a:ext cx="344250" cy="23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0.64</a:t>
            </a:r>
            <a:endParaRPr lang="en-US" sz="1100" dirty="0"/>
          </a:p>
        </p:txBody>
      </p:sp>
      <p:pic>
        <p:nvPicPr>
          <p:cNvPr id="61" name="Image 0" descr="/mnt/data/docx_extract/word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818" y="2254552"/>
            <a:ext cx="1847088" cy="1900839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3605958" y="3985169"/>
            <a:ext cx="1730916" cy="169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Class-level takeaways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3493008" y="4174203"/>
            <a:ext cx="3794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Classical, metal, and hiphop were often among the strongest classes.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 stayed difficult and was frequently confused with nearby styles.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Country, disco, and jazz were less stable across reruns and ablations.</a:t>
            </a:r>
            <a:endParaRPr lang="en-US" sz="1220" dirty="0"/>
          </a:p>
        </p:txBody>
      </p:sp>
      <p:sp>
        <p:nvSpPr>
          <p:cNvPr id="64" name="Text 61"/>
          <p:cNvSpPr/>
          <p:nvPr/>
        </p:nvSpPr>
        <p:spPr>
          <a:xfrm>
            <a:off x="3541273" y="5312599"/>
            <a:ext cx="1444752" cy="16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Reproducibility note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3529584" y="5605937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An earlier 0.77 run could not be fully recovered because artifacts were not saved before a Colab session ended. Rebuilding the workflow later produced 0.61–0.64, turning an error into a lesson about experiment tracking.</a:t>
            </a:r>
            <a:endParaRPr lang="en-US" sz="1180" dirty="0"/>
          </a:p>
        </p:txBody>
      </p:sp>
      <p:sp>
        <p:nvSpPr>
          <p:cNvPr id="66" name="Shape 63"/>
          <p:cNvSpPr/>
          <p:nvPr/>
        </p:nvSpPr>
        <p:spPr>
          <a:xfrm>
            <a:off x="7534656" y="914400"/>
            <a:ext cx="4270248" cy="5394960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7552944" y="932688"/>
            <a:ext cx="100584" cy="5358384"/>
          </a:xfrm>
          <a:prstGeom prst="roundRect">
            <a:avLst>
              <a:gd name="adj" fmla="val 54545"/>
            </a:avLst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7764340" y="111983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Instrument Classification</a:t>
            </a:r>
            <a:endParaRPr lang="en-US" sz="1800" dirty="0"/>
          </a:p>
        </p:txBody>
      </p:sp>
      <p:sp>
        <p:nvSpPr>
          <p:cNvPr id="69" name="Text 66"/>
          <p:cNvSpPr/>
          <p:nvPr/>
        </p:nvSpPr>
        <p:spPr>
          <a:xfrm>
            <a:off x="7802266" y="380317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Dataset and task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8760265" y="3664132"/>
            <a:ext cx="3162159" cy="466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4-class instrument classifier trained on a Kaggle audio dataset to predict the dominant instrument: drum, guitar, piano, or violin.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7735824" y="1792507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Validation accuracy progression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7735824" y="1975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Base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8677656" y="2029968"/>
            <a:ext cx="612648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8677656" y="2029968"/>
            <a:ext cx="371265" cy="128016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9326880" y="1947671"/>
            <a:ext cx="320040" cy="269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0.48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735824" y="2249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CNN v1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8677656" y="2304288"/>
            <a:ext cx="612648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8677656" y="2304288"/>
            <a:ext cx="521210" cy="128016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9326880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0.68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7735824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CNN v2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8677656" y="2578608"/>
            <a:ext cx="612648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677656" y="2578608"/>
            <a:ext cx="522665" cy="128016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9326880" y="2496312"/>
            <a:ext cx="268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0.68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7735824" y="2798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CNN v3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8677656" y="2852928"/>
            <a:ext cx="612648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8677656" y="2852928"/>
            <a:ext cx="544491" cy="128016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9326880" y="2770632"/>
            <a:ext cx="26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0.71</a:t>
            </a:r>
            <a:endParaRPr lang="en-US" sz="1100" dirty="0"/>
          </a:p>
        </p:txBody>
      </p:sp>
      <p:sp>
        <p:nvSpPr>
          <p:cNvPr id="88" name="Text 85"/>
          <p:cNvSpPr/>
          <p:nvPr/>
        </p:nvSpPr>
        <p:spPr>
          <a:xfrm>
            <a:off x="7735824" y="3072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CNN v4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8677656" y="3127248"/>
            <a:ext cx="612648" cy="128016"/>
          </a:xfrm>
          <a:prstGeom prst="rect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8677656" y="3127248"/>
            <a:ext cx="547401" cy="128016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9326880" y="3044952"/>
            <a:ext cx="320040" cy="22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</a:rPr>
              <a:t>0.71</a:t>
            </a:r>
            <a:endParaRPr lang="en-US" sz="1100" dirty="0"/>
          </a:p>
        </p:txBody>
      </p:sp>
      <p:pic>
        <p:nvPicPr>
          <p:cNvPr id="93" name="Image 1" descr="/mnt/data/docx_extract/word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954634"/>
            <a:ext cx="1993392" cy="1679022"/>
          </a:xfrm>
          <a:prstGeom prst="rect">
            <a:avLst/>
          </a:prstGeom>
        </p:spPr>
      </p:pic>
      <p:sp>
        <p:nvSpPr>
          <p:cNvPr id="94" name="Text 90"/>
          <p:cNvSpPr/>
          <p:nvPr/>
        </p:nvSpPr>
        <p:spPr>
          <a:xfrm>
            <a:off x="7764340" y="4982127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95" name="Text 91"/>
          <p:cNvSpPr/>
          <p:nvPr/>
        </p:nvSpPr>
        <p:spPr>
          <a:xfrm>
            <a:off x="7685014" y="5145938"/>
            <a:ext cx="3995928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CNNs improved the baseline substantially, especially for guitar and piano.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overall accuracy came from v4 (0.7148), but v3 was the more balanced alternative.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failure mode: strong confusion between violin and drum.</a:t>
            </a:r>
            <a:endParaRPr lang="en-US" sz="1220" dirty="0"/>
          </a:p>
        </p:txBody>
      </p:sp>
      <p:sp>
        <p:nvSpPr>
          <p:cNvPr id="97" name="Text 93"/>
          <p:cNvSpPr/>
          <p:nvPr/>
        </p:nvSpPr>
        <p:spPr>
          <a:xfrm>
            <a:off x="7792385" y="557784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8" name="Shape 94"/>
          <p:cNvSpPr/>
          <p:nvPr/>
        </p:nvSpPr>
        <p:spPr>
          <a:xfrm>
            <a:off x="384048" y="6364224"/>
            <a:ext cx="11430000" cy="310896"/>
          </a:xfrm>
          <a:prstGeom prst="roundRect">
            <a:avLst>
              <a:gd name="adj" fmla="val 117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5"/>
          <p:cNvSpPr/>
          <p:nvPr/>
        </p:nvSpPr>
        <p:spPr>
          <a:xfrm>
            <a:off x="548640" y="643737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FFFFFF"/>
                </a:solidFill>
              </a:rPr>
              <a:t>Takeaway: the project delivered a working two-model music analysis demo, while also showing that reproducibility, ablation testing, and class-level error analysis matter as much as headline accuracy. Recreating the necessary conditions to replicate model accuracy exactly is difficult.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9107424" y="1554481"/>
            <a:ext cx="8555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7324D"/>
              </a:solidFill>
            </a:endParaRPr>
          </a:p>
          <a:p>
            <a:r>
              <a:rPr lang="en-US" sz="1200" b="1" dirty="0">
                <a:solidFill>
                  <a:srgbClr val="17324D"/>
                </a:solidFill>
              </a:rPr>
              <a:t>Instrument</a:t>
            </a:r>
          </a:p>
          <a:p>
            <a:r>
              <a:rPr lang="en-US" sz="1200" dirty="0">
                <a:solidFill>
                  <a:srgbClr val="1F2937"/>
                </a:solidFill>
              </a:rPr>
              <a:t>Baseline: 0.48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666" y="3096191"/>
            <a:ext cx="2514600" cy="7285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GTZAN: 999 usable clips across 10 genres.</a:t>
            </a:r>
            <a:endParaRPr lang="en-US" sz="1000" dirty="0"/>
          </a:p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Musical Instrument’s Sound Dataset: 4 classes (drum, guitar, piano, violin).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8609" y="3546216"/>
            <a:ext cx="287790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7324D"/>
                </a:solidFill>
              </a:rPr>
              <a:t>Feature pipeline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2078986" y="29593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7324D"/>
                </a:solidFill>
              </a:rPr>
              <a:t>Datasets</a:t>
            </a:r>
            <a:endParaRPr lang="en-US" sz="1200" u="sng" dirty="0"/>
          </a:p>
        </p:txBody>
      </p:sp>
      <p:sp>
        <p:nvSpPr>
          <p:cNvPr id="60" name="Text 58"/>
          <p:cNvSpPr/>
          <p:nvPr/>
        </p:nvSpPr>
        <p:spPr>
          <a:xfrm>
            <a:off x="5724144" y="203419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Confusion matrix: strongest recorded historical v4 (0.77)</a:t>
            </a:r>
            <a:endParaRPr lang="en-US" sz="1150" dirty="0"/>
          </a:p>
        </p:txBody>
      </p:sp>
      <p:sp>
        <p:nvSpPr>
          <p:cNvPr id="92" name="Text 89"/>
          <p:cNvSpPr/>
          <p:nvPr/>
        </p:nvSpPr>
        <p:spPr>
          <a:xfrm>
            <a:off x="1016812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Best overall v4 confusion matrix</a:t>
            </a:r>
            <a:endParaRPr lang="en-US" sz="115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4A47CB4-45A3-6E74-CEB4-C64B36BB07AE}"/>
              </a:ext>
            </a:extLst>
          </p:cNvPr>
          <p:cNvSpPr txBox="1"/>
          <p:nvPr/>
        </p:nvSpPr>
        <p:spPr>
          <a:xfrm>
            <a:off x="7714462" y="4076658"/>
            <a:ext cx="40707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17324D"/>
                </a:solidFill>
              </a:rPr>
              <a:t>Error Analysis</a:t>
            </a:r>
            <a:endParaRPr lang="en-US" sz="1100" dirty="0"/>
          </a:p>
          <a:p>
            <a:r>
              <a:rPr lang="en-US" sz="1100" dirty="0"/>
              <a:t>Guitar and piano were classified more reliably, while violin was frequently confused with drum, showing that some instrument classes were more separable than others in the current feature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662</Words>
  <Application>Microsoft Office PowerPoint</Application>
  <PresentationFormat>Widescreen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Classification with Signal Processing and CNNs</dc:title>
  <dc:subject>TECHIN 513 ML Music Identifier poster</dc:subject>
  <dc:creator>OpenAI</dc:creator>
  <cp:lastModifiedBy>Coleman Bryant</cp:lastModifiedBy>
  <cp:revision>2</cp:revision>
  <dcterms:created xsi:type="dcterms:W3CDTF">2026-03-09T10:03:17Z</dcterms:created>
  <dcterms:modified xsi:type="dcterms:W3CDTF">2026-03-09T11:00:51Z</dcterms:modified>
</cp:coreProperties>
</file>